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6c53e7a88148e9" /><Relationship Type="http://schemas.openxmlformats.org/officeDocument/2006/relationships/extended-properties" Target="/docProps/app.xml" Id="R6f09b51d54f04ccb" /><Relationship Type="http://schemas.openxmlformats.org/officeDocument/2006/relationships/officeDocument" Target="/ppt/presentation.xml" Id="R1bbb53cf083141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4cc1e180c74043"/>
  </p:sldMasterIdLst>
  <p:notesMasterIdLst>
    <p:notesMasterId xmlns:r="http://schemas.openxmlformats.org/officeDocument/2006/relationships" r:id="Rd77ff89842234a35"/>
  </p:notesMasterIdLst>
  <p:sldIdLst>
    <p:sldId xmlns:r="http://schemas.openxmlformats.org/officeDocument/2006/relationships" id="256" r:id="R0659983f24fb4ccf"/>
    <p:sldId xmlns:r="http://schemas.openxmlformats.org/officeDocument/2006/relationships" id="257" r:id="R3e6051f0d99f4a76"/>
    <p:sldId xmlns:r="http://schemas.openxmlformats.org/officeDocument/2006/relationships" id="258" r:id="R338880401a9f453c"/>
    <p:sldId xmlns:r="http://schemas.openxmlformats.org/officeDocument/2006/relationships" id="259" r:id="R625b2791af91454f"/>
    <p:sldId xmlns:r="http://schemas.openxmlformats.org/officeDocument/2006/relationships" id="260" r:id="Rc6a9f7b6d0104f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3735db4ecf4b20" /><Relationship Type="http://schemas.openxmlformats.org/officeDocument/2006/relationships/slideMaster" Target="/ppt/slideMasters/slideMaster1.xml" Id="R0e4cc1e180c74043" /><Relationship Type="http://schemas.openxmlformats.org/officeDocument/2006/relationships/notesMaster" Target="/ppt/notesMasters/notesMaster1.xml" Id="Rd77ff89842234a35" /><Relationship Type="http://schemas.openxmlformats.org/officeDocument/2006/relationships/presProps" Target="/ppt/presProps.xml" Id="R438ce4d902e744c3" /><Relationship Type="http://schemas.openxmlformats.org/officeDocument/2006/relationships/tableStyles" Target="/ppt/tableStyles.xml" Id="R2f9368fd0f274b14" /><Relationship Type="http://schemas.openxmlformats.org/officeDocument/2006/relationships/slide" Target="/ppt/slides/slide1.xml" Id="R0659983f24fb4ccf" /><Relationship Type="http://schemas.openxmlformats.org/officeDocument/2006/relationships/slide" Target="/ppt/slides/slide2.xml" Id="R3e6051f0d99f4a76" /><Relationship Type="http://schemas.openxmlformats.org/officeDocument/2006/relationships/slide" Target="/ppt/slides/slide3.xml" Id="R338880401a9f453c" /><Relationship Type="http://schemas.openxmlformats.org/officeDocument/2006/relationships/slide" Target="/ppt/slides/slide4.xml" Id="R625b2791af91454f" /><Relationship Type="http://schemas.openxmlformats.org/officeDocument/2006/relationships/slide" Target="/ppt/slides/slide5.xml" Id="Rc6a9f7b6d0104f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149e73cf1f47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6e7b87de6b4967" /><Relationship Type="http://schemas.openxmlformats.org/officeDocument/2006/relationships/notesMaster" Target="/ppt/notesMasters/notesMaster1.xml" Id="Rebd636e9aa4949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3f580d83bb41ce" /><Relationship Type="http://schemas.openxmlformats.org/officeDocument/2006/relationships/notesMaster" Target="/ppt/notesMasters/notesMaster1.xml" Id="Re40fc8aff4ec42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aa3d6c078b4cb5" /><Relationship Type="http://schemas.openxmlformats.org/officeDocument/2006/relationships/notesMaster" Target="/ppt/notesMasters/notesMaster1.xml" Id="Rb48d1f78d9954e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2c05fc9742448d" /><Relationship Type="http://schemas.openxmlformats.org/officeDocument/2006/relationships/notesMaster" Target="/ppt/notesMasters/notesMaster1.xml" Id="R8928ca4627b746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55e8408c6c46e2" /><Relationship Type="http://schemas.openxmlformats.org/officeDocument/2006/relationships/notesMaster" Target="/ppt/notesMasters/notesMaster1.xml" Id="R9aa113c2a8dc40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 is a local-first, self-hosted personal AI companion for one owner. Its foundation is durable events, versioned memories and source-linked history. Sources: README.md; AGENTS.md section 1; docs/PLAN.md; docs/FLEET_LAW.md rules 11 and 14. Mac and phone PWA describe the current intended client route; the primary phone route is Safari/Home Screen PWA over private Tailscale, per docs/IPHONE_PRODUCT.md. History is owner-controlled while reasoning uses permissioned hosted processing. The pouch and paper are conceptual generated editorial imagery, not an actual product package. No customer, traction, quality or retention claim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source-linked memory example, not measured product performance or customer statements. Source 01 is the initial decision; source 02 is its revision. Both are retained in the illustrative answer. Implementation foundations include typed/versioned memories, supersession, source-event links and source chips. Sources: backend/app/memory/writer.py; backend/app/filter/output_filter.py; backend/app/services/recall.py; backend/tests/test_memory_foundation.py. The new accordion paper cutout contains no generated text; all evidence text, labels and connectors are editable native objects. No retrieval-quality result or quantified time saving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editable ownership diagram. The dashed boundary represents the owner-controlled event and memory store; the hardware and physical folder are conceptual metaphors, not an EV appliance or production interface screenshot. Private/never_send_to_model content remains inside that boundary; only allowed selected context passes the owner gate to hosted reasoning. Sources: backend/app/memory/writer.py; backend/app/security/boundary.py; backend/app/services/rebuild.py; README.md; docs/FLEET_LAW.md rule 14. Provider-independent history means a new reasoning provider does not require giving up the owner memory store; it is not a claim that a consumer model-switching UI has shipped. Built foundations: versions, provenance, permission gates and export/rebuild. Useful real personal-corpus recall, reliable voice, simple onboarding and physical phone acceptance remain proof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Commercial hypothesis, not existing revenue. First prospective owners: developers and independent operators who need to recover why a project changed. Useful demonstrations lead to guided paid pilots that measure return use/support burden, then test annual renewal of individual owner installations. Proposed USD 240 per owner per year; one self-hosted owner-controlled software installation. Model API costs are separate. The printer is a conceptual software-license pricing metaphor, not hardware sold by EV. This model distributes software to many independent owners without shared multi-user SaaS, guests or a new product domain. Constraints: AGENTS.md section 1; docs/FLEET_LAW.md rule 11; docs/NEXT_STEPS.md. Pricing, paid demand, acquisition/support costs, renewals and margins remain unvalidated.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financing and unachieved proof program, selected under authorization to use judgment. USD 7,000 proposed seed and indicative 18-month program; no valuation, committed capital or guaranteed runway is claimed. Editable allocation chart: Product 55% / USD 3,850; Reliability and trust 25% / USD 1,750; Pilots and operations 20% / USD 1,400. Total 100% / USD 7,000. Percentage overlays derive from the same data array as the chart. Months 0-6 proposed: 15-minute fresh setup after documented prerequisites, and at least one relevant source-backed memory among top five results for 80% of a frozen owner-consented question set, with rubric approved before measurement. Proposed threshold, not measured quality. Months 6-12 proposed: 100 paid pilot owners, counting payments collected and recording realized prices/discounts; expressions of interest and free trials excluded. Months 12-18 proposed: 60% of that same activated cohort intentionally captures, recalls or converses in week eight after activation, with acquisition/support costs measured. All activated paid owners are in the denominator. Paid demand and unit economics unverified. Sources for current maturity: AGENTS.md section 6; docs/NEXT_STEPS.md; docs/IPHONE_PRODUCT.md. The clipboard is conceptual generated imagery, not a completed checklist or actual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b718a36f349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bcc8636a84f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87cbe7caa43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bf476a1cd46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845eff7e341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2e7b170484b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8190B3-51FB-4C25-B8B8-F90C5F4FA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190AC9-8D28-4906-8754-E74F392F16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DF2AC4-AECF-4662-9789-07E4BDE779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9ABD59-5BF9-4923-B548-F8EDC50D55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412DB1-B1AA-4D91-8C9E-AEF469A787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E84382-93CE-4B9F-B1FF-B41329C7C6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89FEB4-0C4A-4E06-A584-120541A134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AB2298-6827-4131-B2FA-B294374904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55C1F1-63D0-47C3-8AC0-A03941C339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1FC780-C583-4266-B940-D7FEE63346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23eae2bea0413c" /><Relationship Type="http://schemas.openxmlformats.org/officeDocument/2006/relationships/slideLayout" Target="/ppt/slideLayouts/slideLayout1.xml" Id="R543fe06744cb4f22" /><Relationship Type="http://schemas.openxmlformats.org/officeDocument/2006/relationships/slideLayout" Target="/ppt/slideLayouts/slideLayout2.xml" Id="Rb7924f3978d547ea" /><Relationship Type="http://schemas.openxmlformats.org/officeDocument/2006/relationships/slideLayout" Target="/ppt/slideLayouts/slideLayout3.xml" Id="Raae3611dbe3e4834" /><Relationship Type="http://schemas.openxmlformats.org/officeDocument/2006/relationships/slideLayout" Target="/ppt/slideLayouts/slideLayout4.xml" Id="Rd1137e98515b48da" /><Relationship Type="http://schemas.openxmlformats.org/officeDocument/2006/relationships/slideLayout" Target="/ppt/slideLayouts/slideLayout5.xml" Id="R7ee34d5deab8404b" /><Relationship Type="http://schemas.openxmlformats.org/officeDocument/2006/relationships/slideLayout" Target="/ppt/slideLayouts/slideLayout6.xml" Id="R2142d0553d814d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3fe06744cb4f22"/>
    <p:sldLayoutId xmlns:r="http://schemas.openxmlformats.org/officeDocument/2006/relationships" id="2147483650" r:id="Rb7924f3978d547ea"/>
    <p:sldLayoutId xmlns:r="http://schemas.openxmlformats.org/officeDocument/2006/relationships" id="2147483651" r:id="Raae3611dbe3e4834"/>
    <p:sldLayoutId xmlns:r="http://schemas.openxmlformats.org/officeDocument/2006/relationships" id="2147483652" r:id="Rd1137e98515b48da"/>
    <p:sldLayoutId xmlns:r="http://schemas.openxmlformats.org/officeDocument/2006/relationships" id="2147483653" r:id="R7ee34d5deab8404b"/>
    <p:sldLayoutId xmlns:r="http://schemas.openxmlformats.org/officeDocument/2006/relationships" id="2147483654" r:id="R2142d0553d814d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7ba062f0c142ca" /><Relationship Type="http://schemas.openxmlformats.org/officeDocument/2006/relationships/image" Target="/ppt/media/image.png" Id="R0a182dfe61f34d00" /><Relationship Type="http://schemas.openxmlformats.org/officeDocument/2006/relationships/notesSlide" Target="/ppt/notesSlides/notesSlide1.xml" Id="Rca099cb2cc6943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301bd0bd44bb6" /><Relationship Type="http://schemas.openxmlformats.org/officeDocument/2006/relationships/image" Target="/ppt/media/image2.png" Id="Rf29f8bb0c48f4812" /><Relationship Type="http://schemas.openxmlformats.org/officeDocument/2006/relationships/notesSlide" Target="/ppt/notesSlides/notesSlide2.xml" Id="R76ac9d3500a44a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a183d7a36e4528" /><Relationship Type="http://schemas.openxmlformats.org/officeDocument/2006/relationships/image" Target="/ppt/media/image3.png" Id="R8f30b9c9e1a24c86" /><Relationship Type="http://schemas.openxmlformats.org/officeDocument/2006/relationships/notesSlide" Target="/ppt/notesSlides/notesSlide3.xml" Id="R89659456d4f24a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c08a8e7ec7402e" /><Relationship Type="http://schemas.openxmlformats.org/officeDocument/2006/relationships/image" Target="/ppt/media/image4.png" Id="R5648930588f74671" /><Relationship Type="http://schemas.openxmlformats.org/officeDocument/2006/relationships/notesSlide" Target="/ppt/notesSlides/notesSlide4.xml" Id="Rb69fe0cc24e149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6a75413fb443cd" /><Relationship Type="http://schemas.openxmlformats.org/officeDocument/2006/relationships/image" Target="/ppt/media/image5.png" Id="R97c757818ecf4e37" /><Relationship Type="http://schemas.openxmlformats.org/officeDocument/2006/relationships/chart" Target="/ppt/slides/charts/chart1.xml" Id="R65f1d241c3ec408e" /><Relationship Type="http://schemas.openxmlformats.org/officeDocument/2006/relationships/notesSlide" Target="/ppt/notesSlides/notesSlide5.xml" Id="Rb294851f547f45d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Product</c:v>
          </c:tx>
          <c:spPr>
            <a:solidFill xmlns:a="http://schemas.openxmlformats.org/drawingml/2006/main">
              <a:srgbClr val="FFCC66"/>
            </a:solidFill>
          </c:spPr>
          <c:cat>
            <c:strRef>
              <c:f>'Chart Data'!$A$2:$A$2</c:f>
              <c:strCache>
                <c:ptCount val="1"/>
                <c:pt idx="0">
                  <c:v>Proposed allocation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0.55</c:v>
                </c:pt>
              </c:numCache>
            </c:numRef>
          </c:val>
        </c:ser>
        <c:ser>
          <c:idx val="1"/>
          <c:order val="1"/>
          <c:tx>
            <c:v>Reliability</c:v>
          </c:tx>
          <c:spPr>
            <a:solidFill xmlns:a="http://schemas.openxmlformats.org/drawingml/2006/main">
              <a:srgbClr val="C8C4EB"/>
            </a:solidFill>
          </c:spPr>
          <c:cat>
            <c:strRef>
              <c:f>'Chart Data'!$C$2:$C$2</c:f>
              <c:strCache>
                <c:ptCount val="1"/>
                <c:pt idx="0">
                  <c:v>Proposed allocation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0.25</c:v>
                </c:pt>
              </c:numCache>
            </c:numRef>
          </c:val>
        </c:ser>
        <c:ser>
          <c:idx val="2"/>
          <c:order val="2"/>
          <c:tx>
            <c:v>Pilots + ops</c:v>
          </c:tx>
          <c:spPr>
            <a:solidFill xmlns:a="http://schemas.openxmlformats.org/drawingml/2006/main">
              <a:srgbClr val="F6F0E5"/>
            </a:solidFill>
          </c:spPr>
          <c:cat>
            <c:strRef>
              <c:f>'Chart Data'!$E$2:$E$2</c:f>
              <c:strCache>
                <c:ptCount val="1"/>
                <c:pt idx="0">
                  <c:v>Proposed allocation</c:v>
                </c:pt>
              </c:strCache>
            </c:strRef>
          </c:cat>
          <c:val>
            <c:numRef>
              <c:f>'Chart Data'!$F$2:$F$2</c:f>
              <c:numCache>
                <c:formatCode>General</c:formatCode>
                <c:ptCount val="1"/>
                <c:pt idx="0">
                  <c:v>0.2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F6F0E5"/>
              </a:solidFill>
              <a:latin typeface="Avenir Next"/>
              <a:ea typeface="Avenir Next"/>
              <a:cs typeface="Avenir Nex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55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v-mark">
            <a:extLst xmlns:a="http://schemas.openxmlformats.org/drawingml/2006/main">
              <a:ext uri="{FF2B5EF4-FFF2-40B4-BE49-F238E27FC236}">
                <a16:creationId xmlns:a16="http://schemas.microsoft.com/office/drawing/2014/main" id="{88CAB724-8BB9-4F29-81F8-ECE6DC28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238125"/>
            <a:ext cx="514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EV</a:t>
            </a:r>
          </a:p>
        </p:txBody>
      </p:sp>
      <p:sp>
        <p:nvSpPr>
          <p:cNvPr id="2" name="issue">
            <a:extLst xmlns:a="http://schemas.openxmlformats.org/drawingml/2006/main">
              <a:ext uri="{FF2B5EF4-FFF2-40B4-BE49-F238E27FC236}">
                <a16:creationId xmlns:a16="http://schemas.microsoft.com/office/drawing/2014/main" id="{D9B1E618-5044-4AB8-A871-893A77FA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333375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KEEP THE WHY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FFCDDCE-EF5C-47E0-A32C-0531BC6F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3225" y="323850"/>
            <a:ext cx="1019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01 / 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98ED3-CE35-404E-9424-15CA0C891B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82dfe61f34d00"/>
          <a:stretch xmlns:a="http://schemas.openxmlformats.org/drawingml/2006/main"/>
        </p:blipFill>
        <p:spPr>
          <a:xfrm xmlns:a="http://schemas.openxmlformats.org/drawingml/2006/main">
            <a:off x="5500688" y="2209800"/>
            <a:ext cx="6686550" cy="4457700"/>
          </a:xfrm>
          <a:prstGeom xmlns:a="http://schemas.openxmlformats.org/drawingml/2006/main" prst="rect">
            <a:avLst/>
          </a:prstGeom>
        </p:spPr>
      </p:pic>
      <p:sp>
        <p:nvSpPr>
          <p:cNvPr id="5" name="keep">
            <a:extLst xmlns:a="http://schemas.openxmlformats.org/drawingml/2006/main">
              <a:ext uri="{FF2B5EF4-FFF2-40B4-BE49-F238E27FC236}">
                <a16:creationId xmlns:a16="http://schemas.microsoft.com/office/drawing/2014/main" id="{6A0F8ACF-DF19-462B-B929-17783B3F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" y="89535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32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32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11325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Keep</a:t>
            </a:r>
          </a:p>
        </p:txBody>
      </p:sp>
      <p:sp>
        <p:nvSpPr>
          <p:cNvPr id="6" name="the">
            <a:extLst xmlns:a="http://schemas.openxmlformats.org/drawingml/2006/main">
              <a:ext uri="{FF2B5EF4-FFF2-40B4-BE49-F238E27FC236}">
                <a16:creationId xmlns:a16="http://schemas.microsoft.com/office/drawing/2014/main" id="{54C74BD6-1988-47B4-A0A5-0628583A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19375"/>
            <a:ext cx="20764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47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47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8475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the</a:t>
            </a:r>
          </a:p>
        </p:txBody>
      </p:sp>
      <p:sp>
        <p:nvSpPr>
          <p:cNvPr id="7" name="why">
            <a:extLst xmlns:a="http://schemas.openxmlformats.org/drawingml/2006/main">
              <a:ext uri="{FF2B5EF4-FFF2-40B4-BE49-F238E27FC236}">
                <a16:creationId xmlns:a16="http://schemas.microsoft.com/office/drawing/2014/main" id="{AB588C1C-94DE-486C-82F9-A90A4F17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2390775"/>
            <a:ext cx="41433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650" b="0" i="1">
                <a:solidFill>
                  <a:srgbClr val="FFCC6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0650" b="0" i="1">
                <a:solidFill>
                  <a:srgbClr val="FFCC66"/>
                </a:solidFill>
                <a:latin typeface="Georgia"/>
                <a:ea typeface="Georgia"/>
                <a:cs typeface="Georgia"/>
              </a:defRPr>
            </a:pPr>
            <a:r>
              <a:rPr sz="10650" b="0" i="1">
                <a:solidFill>
                  <a:srgbClr val="FFCC66"/>
                </a:solidFill>
                <a:latin typeface="Georgia"/>
                <a:ea typeface="Georgia"/>
                <a:cs typeface="Georgia"/>
              </a:rPr>
              <a:t>why.</a:t>
            </a:r>
          </a:p>
        </p:txBody>
      </p:sp>
      <p:sp>
        <p:nvSpPr>
          <p:cNvPr id="8" name="promise">
            <a:extLst xmlns:a="http://schemas.openxmlformats.org/drawingml/2006/main">
              <a:ext uri="{FF2B5EF4-FFF2-40B4-BE49-F238E27FC236}">
                <a16:creationId xmlns:a16="http://schemas.microsoft.com/office/drawing/2014/main" id="{B6C213E2-F5AF-4773-9F9D-B323FFAF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429125"/>
            <a:ext cx="5095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Personal AI with a memory</a:t>
            </a:r>
          </a:p>
          <a:p xmlns:a="http://schemas.openxmlformats.org/drawingml/2006/main">
            <a:pPr>
              <a:defRPr sz="2250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you can inspect.</a:t>
            </a:r>
          </a:p>
        </p:txBody>
      </p:sp>
      <p:sp>
        <p:nvSpPr>
          <p:cNvPr id="9" name="differentiator">
            <a:extLst xmlns:a="http://schemas.openxmlformats.org/drawingml/2006/main">
              <a:ext uri="{FF2B5EF4-FFF2-40B4-BE49-F238E27FC236}">
                <a16:creationId xmlns:a16="http://schemas.microsoft.com/office/drawing/2014/main" id="{D2B4B918-D34A-4043-AB41-93821413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5600700"/>
            <a:ext cx="5191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The decision. The change. The source.</a:t>
            </a:r>
          </a:p>
        </p:txBody>
      </p:sp>
      <p:sp>
        <p:nvSpPr>
          <p:cNvPr id="10" name="carry-aside">
            <a:extLst xmlns:a="http://schemas.openxmlformats.org/drawingml/2006/main">
              <a:ext uri="{FF2B5EF4-FFF2-40B4-BE49-F238E27FC236}">
                <a16:creationId xmlns:a16="http://schemas.microsoft.com/office/drawing/2014/main" id="{4EDC06CA-366D-49C0-A227-A6562D95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258175" y="1257300"/>
            <a:ext cx="3114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CC66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CC66"/>
                </a:solidFill>
                <a:latin typeface="Marker Felt"/>
                <a:ea typeface="Marker Felt"/>
                <a:cs typeface="Marker Felt"/>
              </a:defRPr>
            </a:pPr>
            <a:r>
              <a:rPr sz="2100" b="0">
                <a:solidFill>
                  <a:srgbClr val="FFCC66"/>
                </a:solidFill>
                <a:latin typeface="Marker Felt"/>
                <a:ea typeface="Marker Felt"/>
                <a:cs typeface="Marker Felt"/>
              </a:rPr>
              <a:t>Your history.</a:t>
            </a:r>
          </a:p>
          <a:p xmlns:a="http://schemas.openxmlformats.org/drawingml/2006/main">
            <a:pPr>
              <a:defRPr sz="2100" b="0">
                <a:solidFill>
                  <a:srgbClr val="FFCC66"/>
                </a:solidFill>
                <a:latin typeface="Marker Felt"/>
                <a:ea typeface="Marker Felt"/>
                <a:cs typeface="Marker Felt"/>
              </a:defRPr>
            </a:pPr>
            <a:r>
              <a:rPr sz="2100" b="0">
                <a:solidFill>
                  <a:srgbClr val="FFCC66"/>
                </a:solidFill>
                <a:latin typeface="Marker Felt"/>
                <a:ea typeface="Marker Felt"/>
                <a:cs typeface="Marker Felt"/>
              </a:rPr>
              <a:t>Ready when you are.</a:t>
            </a:r>
          </a:p>
        </p:txBody>
      </p:sp>
      <p:sp>
        <p:nvSpPr>
          <p:cNvPr id="11" name="scope">
            <a:extLst xmlns:a="http://schemas.openxmlformats.org/drawingml/2006/main">
              <a:ext uri="{FF2B5EF4-FFF2-40B4-BE49-F238E27FC236}">
                <a16:creationId xmlns:a16="http://schemas.microsoft.com/office/drawing/2014/main" id="{D91DD780-3D45-4ECD-88A7-960D714E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6457950"/>
            <a:ext cx="1000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One owner. Local-first history. Mac + phone PWA.</a:t>
            </a:r>
          </a:p>
        </p:txBody>
      </p:sp>
    </p:spTree>
    <p:extLst>
      <p:ext uri="{BB962C8B-B14F-4D97-AF65-F5344CB8AC3E}">
        <p14:creationId xmlns:p14="http://schemas.microsoft.com/office/powerpoint/2010/main" val="970574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18F780-935C-4C7C-BE32-74EA7BAAF00B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58125" y="489108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5E7"/>
            </a:solidFill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953C4-6070-4BD5-9C3E-973060B777BE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191000" y="4891088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6F52"/>
            </a:solidFill>
            <a:tailEnd type="triangle" w="sm" len="sm"/>
          </a:ln>
        </p:spPr>
      </p:cxnSp>
      <p:sp>
        <p:nvSpPr>
          <p:cNvPr id="27" name="ev-mark">
            <a:extLst xmlns:a="http://schemas.openxmlformats.org/drawingml/2006/main">
              <a:ext uri="{FF2B5EF4-FFF2-40B4-BE49-F238E27FC236}">
                <a16:creationId xmlns:a16="http://schemas.microsoft.com/office/drawing/2014/main" id="{22F8AF80-5F83-41B6-824C-D66EC9AD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238125"/>
            <a:ext cx="514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EV</a:t>
            </a:r>
          </a:p>
        </p:txBody>
      </p:sp>
      <p:sp>
        <p:nvSpPr>
          <p:cNvPr id="2" name="issue">
            <a:extLst xmlns:a="http://schemas.openxmlformats.org/drawingml/2006/main">
              <a:ext uri="{FF2B5EF4-FFF2-40B4-BE49-F238E27FC236}">
                <a16:creationId xmlns:a16="http://schemas.microsoft.com/office/drawing/2014/main" id="{1FFDCE7B-AD3E-4038-AE5D-CBAB1FA2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333375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THE MEMORY TRAIL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F991792-398C-4001-9AE1-A7192556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3225" y="323850"/>
            <a:ext cx="1019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02 / 05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F030C42B-CEDD-474B-86A9-051F3D0B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33425"/>
            <a:ext cx="10915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45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4575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You changed your mind.</a:t>
            </a:r>
          </a:p>
        </p:txBody>
      </p:sp>
      <p:sp>
        <p:nvSpPr>
          <p:cNvPr id="5" name="second-line">
            <a:extLst xmlns:a="http://schemas.openxmlformats.org/drawingml/2006/main">
              <a:ext uri="{FF2B5EF4-FFF2-40B4-BE49-F238E27FC236}">
                <a16:creationId xmlns:a16="http://schemas.microsoft.com/office/drawing/2014/main" id="{68F012C5-B2A3-42DA-8C73-EEA75782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141922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00" b="0" i="1">
                <a:solidFill>
                  <a:srgbClr val="3155E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500" b="0" i="1">
                <a:solidFill>
                  <a:srgbClr val="3155E7"/>
                </a:solidFill>
                <a:latin typeface="Georgia"/>
                <a:ea typeface="Georgia"/>
                <a:cs typeface="Georgia"/>
              </a:defRPr>
            </a:pPr>
            <a:r>
              <a:rPr sz="4500" b="0" i="1">
                <a:solidFill>
                  <a:srgbClr val="3155E7"/>
                </a:solidFill>
                <a:latin typeface="Georgia"/>
                <a:ea typeface="Georgia"/>
                <a:cs typeface="Georgia"/>
              </a:rPr>
              <a:t>EV keeps both versions.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A8AE5-8E4B-4FDD-BD8B-B9F4FFDE9E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f8bb0c48f4812"/>
          <a:stretch xmlns:a="http://schemas.openxmlformats.org/drawingml/2006/main"/>
        </p:blipFill>
        <p:spPr>
          <a:xfrm xmlns:a="http://schemas.openxmlformats.org/drawingml/2006/main">
            <a:off x="514350" y="2563812"/>
            <a:ext cx="11163300" cy="3721100"/>
          </a:xfrm>
          <a:prstGeom xmlns:a="http://schemas.openxmlformats.org/drawingml/2006/main" prst="rect">
            <a:avLst/>
          </a:prstGeom>
        </p:spPr>
      </p:pic>
      <p:sp>
        <p:nvSpPr>
          <p:cNvPr id="7" name="original-source">
            <a:extLst xmlns:a="http://schemas.openxmlformats.org/drawingml/2006/main">
              <a:ext uri="{FF2B5EF4-FFF2-40B4-BE49-F238E27FC236}">
                <a16:creationId xmlns:a16="http://schemas.microsoft.com/office/drawing/2014/main" id="{153A01CA-DE72-4384-9096-BCED97BC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114675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F46F52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46F52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46F52"/>
                </a:solidFill>
                <a:latin typeface="Avenir Next"/>
                <a:ea typeface="Avenir Next"/>
                <a:cs typeface="Avenir Next"/>
              </a:rPr>
              <a:t>01 / 12 MARCH</a:t>
            </a:r>
          </a:p>
        </p:txBody>
      </p:sp>
      <p:sp>
        <p:nvSpPr>
          <p:cNvPr id="8" name="original">
            <a:extLst xmlns:a="http://schemas.openxmlformats.org/drawingml/2006/main">
              <a:ext uri="{FF2B5EF4-FFF2-40B4-BE49-F238E27FC236}">
                <a16:creationId xmlns:a16="http://schemas.microsoft.com/office/drawing/2014/main" id="{0DA2BF99-E960-4D47-892B-E7DBE31E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714750"/>
            <a:ext cx="30861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232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“Hold the launch.</a:t>
            </a:r>
          </a:p>
          <a:p xmlns:a="http://schemas.openxmlformats.org/drawingml/2006/main">
            <a:pPr>
              <a:defRPr sz="23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232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Fix billing.”</a:t>
            </a:r>
          </a:p>
        </p:txBody>
      </p:sp>
      <p:sp>
        <p:nvSpPr>
          <p:cNvPr id="9" name="original-aside">
            <a:extLst xmlns:a="http://schemas.openxmlformats.org/drawingml/2006/main">
              <a:ext uri="{FF2B5EF4-FFF2-40B4-BE49-F238E27FC236}">
                <a16:creationId xmlns:a16="http://schemas.microsoft.com/office/drawing/2014/main" id="{CEAF2617-1D61-424F-A097-5AEA5CBA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057275" y="52768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46F52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46F52"/>
                </a:solidFill>
                <a:latin typeface="Marker Felt"/>
                <a:ea typeface="Marker Felt"/>
                <a:cs typeface="Marker Felt"/>
              </a:defRPr>
            </a:pPr>
            <a:r>
              <a:rPr sz="1800" b="0">
                <a:solidFill>
                  <a:srgbClr val="F46F52"/>
                </a:solidFill>
                <a:latin typeface="Marker Felt"/>
                <a:ea typeface="Marker Felt"/>
                <a:cs typeface="Marker Felt"/>
              </a:rPr>
              <a:t>The original.</a:t>
            </a:r>
          </a:p>
        </p:txBody>
      </p:sp>
      <p:sp>
        <p:nvSpPr>
          <p:cNvPr id="10" name="revision-source">
            <a:extLst xmlns:a="http://schemas.openxmlformats.org/drawingml/2006/main">
              <a:ext uri="{FF2B5EF4-FFF2-40B4-BE49-F238E27FC236}">
                <a16:creationId xmlns:a16="http://schemas.microsoft.com/office/drawing/2014/main" id="{047E7455-1A97-482F-AC73-B8A24FCB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3114675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02 / 19 APRIL</a:t>
            </a:r>
          </a:p>
        </p:txBody>
      </p:sp>
      <p:sp>
        <p:nvSpPr>
          <p:cNvPr id="11" name="revision">
            <a:extLst xmlns:a="http://schemas.openxmlformats.org/drawingml/2006/main">
              <a:ext uri="{FF2B5EF4-FFF2-40B4-BE49-F238E27FC236}">
                <a16:creationId xmlns:a16="http://schemas.microsoft.com/office/drawing/2014/main" id="{764DD136-5E77-4CE0-A95A-197D3A45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3714750"/>
            <a:ext cx="30861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232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“Smaller beta.</a:t>
            </a:r>
          </a:p>
          <a:p xmlns:a="http://schemas.openxmlformats.org/drawingml/2006/main">
            <a:pPr>
              <a:defRPr sz="23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232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Ship sooner.”</a:t>
            </a:r>
          </a:p>
        </p:txBody>
      </p:sp>
      <p:sp>
        <p:nvSpPr>
          <p:cNvPr id="12" name="revision-aside">
            <a:extLst xmlns:a="http://schemas.openxmlformats.org/drawingml/2006/main">
              <a:ext uri="{FF2B5EF4-FFF2-40B4-BE49-F238E27FC236}">
                <a16:creationId xmlns:a16="http://schemas.microsoft.com/office/drawing/2014/main" id="{604BA95D-C6B5-466A-B61A-86D65F5B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4733925" y="527685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155E7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5E7"/>
                </a:solidFill>
                <a:latin typeface="Marker Felt"/>
                <a:ea typeface="Marker Felt"/>
                <a:cs typeface="Marker Felt"/>
              </a:defRPr>
            </a:pPr>
            <a:r>
              <a:rPr sz="1800" b="0">
                <a:solidFill>
                  <a:srgbClr val="3155E7"/>
                </a:solidFill>
                <a:latin typeface="Marker Felt"/>
                <a:ea typeface="Marker Felt"/>
                <a:cs typeface="Marker Felt"/>
              </a:rPr>
              <a:t>Then a new plan.</a:t>
            </a:r>
          </a:p>
        </p:txBody>
      </p:sp>
      <p:sp>
        <p:nvSpPr>
          <p:cNvPr id="13" name="ask-label">
            <a:extLst xmlns:a="http://schemas.openxmlformats.org/drawingml/2006/main">
              <a:ext uri="{FF2B5EF4-FFF2-40B4-BE49-F238E27FC236}">
                <a16:creationId xmlns:a16="http://schemas.microsoft.com/office/drawing/2014/main" id="{1FE44FA1-1D1D-4A08-92C2-43F4DC66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3114675"/>
            <a:ext cx="2924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ASK EV</a:t>
            </a:r>
          </a:p>
        </p:txBody>
      </p:sp>
      <p:sp>
        <p:nvSpPr>
          <p:cNvPr id="14" name="ask">
            <a:extLst xmlns:a="http://schemas.openxmlformats.org/drawingml/2006/main">
              <a:ext uri="{FF2B5EF4-FFF2-40B4-BE49-F238E27FC236}">
                <a16:creationId xmlns:a16="http://schemas.microsoft.com/office/drawing/2014/main" id="{8263B105-3300-4186-8761-853FA2DD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35242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Why did the plan change?</a:t>
            </a:r>
          </a:p>
        </p:txBody>
      </p:sp>
      <p:sp>
        <p:nvSpPr>
          <p:cNvPr id="15" name="answer">
            <a:extLst xmlns:a="http://schemas.openxmlformats.org/drawingml/2006/main">
              <a:ext uri="{FF2B5EF4-FFF2-40B4-BE49-F238E27FC236}">
                <a16:creationId xmlns:a16="http://schemas.microsoft.com/office/drawing/2014/main" id="{966D396C-998E-4AAC-A3BD-67E25A1D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3981450"/>
            <a:ext cx="295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Billing was the blocker.</a:t>
            </a:r>
          </a:p>
          <a:p xmlns:a="http://schemas.openxmlformats.org/drawingml/2006/main">
            <a:pPr>
              <a:defRPr sz="1800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You chose a smaller beta</a:t>
            </a:r>
          </a:p>
          <a:p xmlns:a="http://schemas.openxmlformats.org/drawingml/2006/main">
            <a:pPr>
              <a:defRPr sz="1800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to ship sooner.</a:t>
            </a:r>
          </a:p>
        </p:txBody>
      </p:sp>
      <p:sp>
        <p:nvSpPr>
          <p:cNvPr id="16" name="answer-source-1">
            <a:extLst xmlns:a="http://schemas.openxmlformats.org/drawingml/2006/main">
              <a:ext uri="{FF2B5EF4-FFF2-40B4-BE49-F238E27FC236}">
                <a16:creationId xmlns:a16="http://schemas.microsoft.com/office/drawing/2014/main" id="{3BD13670-EF9B-45FD-9B5E-B73D3065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5267325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F46F52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46F5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6F52"/>
                </a:solidFill>
                <a:latin typeface="Avenir Next"/>
                <a:ea typeface="Avenir Next"/>
                <a:cs typeface="Avenir Next"/>
              </a:rPr>
              <a:t>01  12 March</a:t>
            </a:r>
          </a:p>
        </p:txBody>
      </p:sp>
      <p:sp>
        <p:nvSpPr>
          <p:cNvPr id="17" name="answer-source-2">
            <a:extLst xmlns:a="http://schemas.openxmlformats.org/drawingml/2006/main">
              <a:ext uri="{FF2B5EF4-FFF2-40B4-BE49-F238E27FC236}">
                <a16:creationId xmlns:a16="http://schemas.microsoft.com/office/drawing/2014/main" id="{67B0EC51-B989-4DBD-8A04-F41DC16A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5562600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02  19 April</a:t>
            </a:r>
          </a:p>
        </p:txBody>
      </p:sp>
      <p:sp>
        <p:nvSpPr>
          <p:cNvPr id="18" name="first-out">
            <a:extLst xmlns:a="http://schemas.openxmlformats.org/drawingml/2006/main">
              <a:ext uri="{FF2B5EF4-FFF2-40B4-BE49-F238E27FC236}">
                <a16:creationId xmlns:a16="http://schemas.microsoft.com/office/drawing/2014/main" id="{9A5035F2-330E-4192-8955-B22935BB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886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second-in">
            <a:extLst xmlns:a="http://schemas.openxmlformats.org/drawingml/2006/main">
              <a:ext uri="{FF2B5EF4-FFF2-40B4-BE49-F238E27FC236}">
                <a16:creationId xmlns:a16="http://schemas.microsoft.com/office/drawing/2014/main" id="{35B12609-5B3A-4291-9B48-A0E7FD5B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86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second-out">
            <a:extLst xmlns:a="http://schemas.openxmlformats.org/drawingml/2006/main">
              <a:ext uri="{FF2B5EF4-FFF2-40B4-BE49-F238E27FC236}">
                <a16:creationId xmlns:a16="http://schemas.microsoft.com/office/drawing/2014/main" id="{43320109-4DD2-4850-97F1-01E04298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86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answer-in">
            <a:extLst xmlns:a="http://schemas.openxmlformats.org/drawingml/2006/main">
              <a:ext uri="{FF2B5EF4-FFF2-40B4-BE49-F238E27FC236}">
                <a16:creationId xmlns:a16="http://schemas.microsoft.com/office/drawing/2014/main" id="{C722AC53-835A-481C-9D3C-5B34D495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886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original-to-revision">
            <a:extLst xmlns:a="http://schemas.openxmlformats.org/drawingml/2006/main">
              <a:ext uri="{FF2B5EF4-FFF2-40B4-BE49-F238E27FC236}">
                <a16:creationId xmlns:a16="http://schemas.microsoft.com/office/drawing/2014/main" id="{E20A0038-9BB1-4A6B-9E74-DB4EE871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4552950"/>
            <a:ext cx="485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46F52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46F52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F46F5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5" name="revision-to-answer">
            <a:extLst xmlns:a="http://schemas.openxmlformats.org/drawingml/2006/main">
              <a:ext uri="{FF2B5EF4-FFF2-40B4-BE49-F238E27FC236}">
                <a16:creationId xmlns:a16="http://schemas.microsoft.com/office/drawing/2014/main" id="{88BD50AA-8CAE-4A27-83A4-D502C7CC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4552950"/>
            <a:ext cx="485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6" name="fictional-disclosure">
            <a:extLst xmlns:a="http://schemas.openxmlformats.org/drawingml/2006/main">
              <a:ext uri="{FF2B5EF4-FFF2-40B4-BE49-F238E27FC236}">
                <a16:creationId xmlns:a16="http://schemas.microsoft.com/office/drawing/2014/main" id="{052E93B7-03F7-4348-B839-F32DEEA6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6457950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572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F657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F6572"/>
                </a:solidFill>
                <a:latin typeface="Avenir Next"/>
                <a:ea typeface="Avenir Next"/>
                <a:cs typeface="Avenir Next"/>
              </a:rPr>
              <a:t>Illustrative conversation. Dates and quotes are fictional.</a:t>
            </a:r>
          </a:p>
        </p:txBody>
      </p:sp>
    </p:spTree>
    <p:extLst>
      <p:ext uri="{BB962C8B-B14F-4D97-AF65-F5344CB8AC3E}">
        <p14:creationId xmlns:p14="http://schemas.microsoft.com/office/powerpoint/2010/main" val="1892964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C8C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955CD-FE85-4A74-A728-EF3340C29993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10401300" y="270510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5E7"/>
            </a:solidFill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18D446-0949-4BCC-9331-F572272DA1D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7667625" y="3862388"/>
            <a:ext cx="1628775" cy="6715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1D2433"/>
            </a:solidFill>
            <a:tailEnd type="triangle" w="sm" len="sm"/>
          </a:ln>
        </p:spPr>
      </p:cxnSp>
      <p:sp>
        <p:nvSpPr>
          <p:cNvPr id="26" name="ev-mark">
            <a:extLst xmlns:a="http://schemas.openxmlformats.org/drawingml/2006/main">
              <a:ext uri="{FF2B5EF4-FFF2-40B4-BE49-F238E27FC236}">
                <a16:creationId xmlns:a16="http://schemas.microsoft.com/office/drawing/2014/main" id="{95C565AB-18BF-48DF-9F12-A6A1C794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238125"/>
            <a:ext cx="514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EV</a:t>
            </a:r>
          </a:p>
        </p:txBody>
      </p:sp>
      <p:sp>
        <p:nvSpPr>
          <p:cNvPr id="2" name="issue">
            <a:extLst xmlns:a="http://schemas.openxmlformats.org/drawingml/2006/main">
              <a:ext uri="{FF2B5EF4-FFF2-40B4-BE49-F238E27FC236}">
                <a16:creationId xmlns:a16="http://schemas.microsoft.com/office/drawing/2014/main" id="{ADB184AE-66A5-4FD0-85C8-9308DA44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333375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OWNER CONTROL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5D7DF1F-EE84-4A6B-B5BF-430FC999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3225" y="323850"/>
            <a:ext cx="1019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03 / 05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56CAA6AC-21D5-4AAF-99B7-BDD6D0F5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752475"/>
            <a:ext cx="9525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4500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A new brain.</a:t>
            </a:r>
          </a:p>
        </p:txBody>
      </p:sp>
      <p:sp>
        <p:nvSpPr>
          <p:cNvPr id="5" name="second-line">
            <a:extLst xmlns:a="http://schemas.openxmlformats.org/drawingml/2006/main">
              <a:ext uri="{FF2B5EF4-FFF2-40B4-BE49-F238E27FC236}">
                <a16:creationId xmlns:a16="http://schemas.microsoft.com/office/drawing/2014/main" id="{02004245-B145-40BF-B903-B18D30B4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419225"/>
            <a:ext cx="108299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575" b="0" i="1">
                <a:solidFill>
                  <a:srgbClr val="3155E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575" b="0" i="1">
                <a:solidFill>
                  <a:srgbClr val="3155E7"/>
                </a:solidFill>
                <a:latin typeface="Georgia"/>
                <a:ea typeface="Georgia"/>
                <a:cs typeface="Georgia"/>
              </a:defRPr>
            </a:pPr>
            <a:r>
              <a:rPr sz="4575" b="0" i="1">
                <a:solidFill>
                  <a:srgbClr val="3155E7"/>
                </a:solidFill>
                <a:latin typeface="Georgia"/>
                <a:ea typeface="Georgia"/>
                <a:cs typeface="Georgia"/>
              </a:rPr>
              <a:t>The same backstory.</a:t>
            </a:r>
          </a:p>
        </p:txBody>
      </p:sp>
      <p:sp>
        <p:nvSpPr>
          <p:cNvPr id="6" name="ownership-aside">
            <a:extLst xmlns:a="http://schemas.openxmlformats.org/drawingml/2006/main">
              <a:ext uri="{FF2B5EF4-FFF2-40B4-BE49-F238E27FC236}">
                <a16:creationId xmlns:a16="http://schemas.microsoft.com/office/drawing/2014/main" id="{944D8723-6F96-4F54-997B-6DCC0E87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752475" y="2343150"/>
            <a:ext cx="7019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D2433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D2433"/>
                </a:solidFill>
                <a:latin typeface="Marker Felt"/>
                <a:ea typeface="Marker Felt"/>
                <a:cs typeface="Marker Felt"/>
              </a:defRPr>
            </a:pPr>
            <a:r>
              <a:rPr sz="2100" b="0">
                <a:solidFill>
                  <a:srgbClr val="1D2433"/>
                </a:solidFill>
                <a:latin typeface="Marker Felt"/>
                <a:ea typeface="Marker Felt"/>
                <a:cs typeface="Marker Felt"/>
              </a:rPr>
              <a:t>Your memory. Your call.</a:t>
            </a:r>
          </a:p>
        </p:txBody>
      </p:sp>
      <p:sp>
        <p:nvSpPr>
          <p:cNvPr id="7" name="owner-boundary">
            <a:extLst xmlns:a="http://schemas.openxmlformats.org/drawingml/2006/main">
              <a:ext uri="{FF2B5EF4-FFF2-40B4-BE49-F238E27FC236}">
                <a16:creationId xmlns:a16="http://schemas.microsoft.com/office/drawing/2014/main" id="{069CECBE-0C22-47E8-AA18-D33A4D3F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7025"/>
            <a:ext cx="7115175" cy="333375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D2433"/>
            </a:solidFill>
            <a:prstDash val="dash"/>
          </a:ln>
        </p:spPr>
      </p:sp>
      <p:sp>
        <p:nvSpPr>
          <p:cNvPr id="8" name="owner-location">
            <a:extLst xmlns:a="http://schemas.openxmlformats.org/drawingml/2006/main">
              <a:ext uri="{FF2B5EF4-FFF2-40B4-BE49-F238E27FC236}">
                <a16:creationId xmlns:a16="http://schemas.microsoft.com/office/drawing/2014/main" id="{8E304A13-C7FD-438A-ACFA-03BCA37B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086100"/>
            <a:ext cx="239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AT YOUR PLACE</a:t>
            </a:r>
          </a:p>
        </p:txBody>
      </p:sp>
      <p:sp>
        <p:nvSpPr>
          <p:cNvPr id="9" name="owner-data">
            <a:extLst xmlns:a="http://schemas.openxmlformats.org/drawingml/2006/main">
              <a:ext uri="{FF2B5EF4-FFF2-40B4-BE49-F238E27FC236}">
                <a16:creationId xmlns:a16="http://schemas.microsoft.com/office/drawing/2014/main" id="{EDED4D13-0B59-4ED0-83AA-5B5D5429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90925"/>
            <a:ext cx="22383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Events</a:t>
            </a:r>
          </a:p>
          <a:p xmlns:a="http://schemas.openxmlformats.org/drawingml/2006/main">
            <a:pPr>
              <a:defRPr sz="21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Versions</a:t>
            </a:r>
          </a:p>
          <a:p xmlns:a="http://schemas.openxmlformats.org/drawingml/2006/main">
            <a:pPr>
              <a:defRPr sz="21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Sources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7C03A-492F-4FD1-AA7B-1C557901AA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0b9c9e1a24c86"/>
          <a:stretch xmlns:a="http://schemas.openxmlformats.org/drawingml/2006/main"/>
        </p:blipFill>
        <p:spPr>
          <a:xfrm xmlns:a="http://schemas.openxmlformats.org/drawingml/2006/main">
            <a:off x="3038475" y="3001962"/>
            <a:ext cx="4552950" cy="3035300"/>
          </a:xfrm>
          <a:prstGeom xmlns:a="http://schemas.openxmlformats.org/drawingml/2006/main" prst="rect">
            <a:avLst/>
          </a:prstGeom>
        </p:spPr>
      </p:pic>
      <p:sp>
        <p:nvSpPr>
          <p:cNvPr id="11" name="store-title">
            <a:extLst xmlns:a="http://schemas.openxmlformats.org/drawingml/2006/main">
              <a:ext uri="{FF2B5EF4-FFF2-40B4-BE49-F238E27FC236}">
                <a16:creationId xmlns:a16="http://schemas.microsoft.com/office/drawing/2014/main" id="{5B977BF0-64C9-47FE-B1AD-062214E5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3429000"/>
            <a:ext cx="1733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Your history</a:t>
            </a:r>
          </a:p>
        </p:txBody>
      </p:sp>
      <p:sp>
        <p:nvSpPr>
          <p:cNvPr id="12" name="store-details">
            <a:extLst xmlns:a="http://schemas.openxmlformats.org/drawingml/2006/main">
              <a:ext uri="{FF2B5EF4-FFF2-40B4-BE49-F238E27FC236}">
                <a16:creationId xmlns:a16="http://schemas.microsoft.com/office/drawing/2014/main" id="{73254C31-ABE5-417D-BCF9-76C84EF9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3857625"/>
            <a:ext cx="1733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Events + versions</a:t>
            </a:r>
          </a:p>
          <a:p xmlns:a="http://schemas.openxmlformats.org/drawingml/2006/main">
            <a:pPr>
              <a:defRPr sz="1350" b="0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Linked to sources</a:t>
            </a:r>
          </a:p>
        </p:txBody>
      </p:sp>
      <p:sp>
        <p:nvSpPr>
          <p:cNvPr id="13" name="private-content">
            <a:extLst xmlns:a="http://schemas.openxmlformats.org/drawingml/2006/main">
              <a:ext uri="{FF2B5EF4-FFF2-40B4-BE49-F238E27FC236}">
                <a16:creationId xmlns:a16="http://schemas.microsoft.com/office/drawing/2014/main" id="{160E7809-25CA-4E52-8EC9-875A1D1A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206692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6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D1DED1B2-6A52-42E1-88DD-9F64350B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5343525"/>
            <a:ext cx="1781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“Never send”</a:t>
            </a:r>
          </a:p>
          <a:p xmlns:a="http://schemas.openxmlformats.org/drawingml/2006/main">
            <a:pPr>
              <a:defRPr sz="157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stays here.</a:t>
            </a:r>
          </a:p>
        </p:txBody>
      </p:sp>
      <p:sp>
        <p:nvSpPr>
          <p:cNvPr id="15" name="permission-gate">
            <a:extLst xmlns:a="http://schemas.openxmlformats.org/drawingml/2006/main">
              <a:ext uri="{FF2B5EF4-FFF2-40B4-BE49-F238E27FC236}">
                <a16:creationId xmlns:a16="http://schemas.microsoft.com/office/drawing/2014/main" id="{33F1BAE9-1ADB-44D4-BCB1-D2AAA6AF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29000"/>
            <a:ext cx="2209800" cy="8667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0E5"/>
          </a:solidFill>
          <a:ln xmlns:a="http://schemas.openxmlformats.org/drawingml/2006/main" w="19050">
            <a:solidFill>
              <a:srgbClr val="1D2433"/>
            </a:solidFill>
            <a:prstDash val="solid"/>
          </a:ln>
        </p:spPr>
      </p:sp>
      <p:sp>
        <p:nvSpPr>
          <p:cNvPr id="16" name="permission-label">
            <a:extLst xmlns:a="http://schemas.openxmlformats.org/drawingml/2006/main">
              <a:ext uri="{FF2B5EF4-FFF2-40B4-BE49-F238E27FC236}">
                <a16:creationId xmlns:a16="http://schemas.microsoft.com/office/drawing/2014/main" id="{ACFB9CBA-6A6C-4F45-BD1E-EC1B3884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375" y="3695700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Your permission</a:t>
            </a:r>
          </a:p>
        </p:txBody>
      </p:sp>
      <p:sp>
        <p:nvSpPr>
          <p:cNvPr id="17" name="hosted-model">
            <a:extLst xmlns:a="http://schemas.openxmlformats.org/drawingml/2006/main">
              <a:ext uri="{FF2B5EF4-FFF2-40B4-BE49-F238E27FC236}">
                <a16:creationId xmlns:a16="http://schemas.microsoft.com/office/drawing/2014/main" id="{8410062F-A15B-4792-AB5A-2D92C256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47825"/>
            <a:ext cx="2038350" cy="1057275"/>
          </a:xfrm>
          <a:prstGeom xmlns:a="http://schemas.openxmlformats.org/drawingml/2006/main" prst="roundRect">
            <a:avLst>
              <a:gd name="adj" fmla="val 12613"/>
            </a:avLst>
          </a:prstGeom>
          <a:solidFill xmlns:a="http://schemas.openxmlformats.org/drawingml/2006/main">
            <a:srgbClr val="315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osted-label">
            <a:extLst xmlns:a="http://schemas.openxmlformats.org/drawingml/2006/main">
              <a:ext uri="{FF2B5EF4-FFF2-40B4-BE49-F238E27FC236}">
                <a16:creationId xmlns:a16="http://schemas.microsoft.com/office/drawing/2014/main" id="{B2CA890A-4FF7-4840-8B02-35636770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9775" y="1800225"/>
            <a:ext cx="16478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A hosted</a:t>
            </a:r>
          </a:p>
          <a:p xmlns:a="http://schemas.openxmlformats.org/drawingml/2006/main">
            <a:pPr>
              <a:defRPr sz="2100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model</a:t>
            </a:r>
          </a:p>
        </p:txBody>
      </p:sp>
      <p:sp>
        <p:nvSpPr>
          <p:cNvPr id="21" name="context-label">
            <a:extLst xmlns:a="http://schemas.openxmlformats.org/drawingml/2006/main">
              <a:ext uri="{FF2B5EF4-FFF2-40B4-BE49-F238E27FC236}">
                <a16:creationId xmlns:a16="http://schemas.microsoft.com/office/drawing/2014/main" id="{21DED7DF-8E0E-405B-B255-96C9B6BB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4724400"/>
            <a:ext cx="13430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Only allowed</a:t>
            </a:r>
          </a:p>
          <a:p xmlns:a="http://schemas.openxmlformats.org/drawingml/2006/main">
            <a:pPr>
              <a:defRPr sz="1350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context</a:t>
            </a:r>
          </a:p>
        </p:txBody>
      </p:sp>
      <p:sp>
        <p:nvSpPr>
          <p:cNvPr id="22" name="permission-route">
            <a:extLst xmlns:a="http://schemas.openxmlformats.org/drawingml/2006/main">
              <a:ext uri="{FF2B5EF4-FFF2-40B4-BE49-F238E27FC236}">
                <a16:creationId xmlns:a16="http://schemas.microsoft.com/office/drawing/2014/main" id="{EACEB23A-47F9-4EA3-9830-3D591BF3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2952750"/>
            <a:ext cx="1647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By permission</a:t>
            </a:r>
          </a:p>
        </p:txBody>
      </p:sp>
      <p:sp>
        <p:nvSpPr>
          <p:cNvPr id="23" name="proof-label">
            <a:extLst xmlns:a="http://schemas.openxmlformats.org/drawingml/2006/main">
              <a:ext uri="{FF2B5EF4-FFF2-40B4-BE49-F238E27FC236}">
                <a16:creationId xmlns:a16="http://schemas.microsoft.com/office/drawing/2014/main" id="{06D2CDC9-A69D-4AE6-AC51-05D02050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5425" y="4857750"/>
            <a:ext cx="2390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NEXT PROOF</a:t>
            </a:r>
          </a:p>
        </p:txBody>
      </p:sp>
      <p:sp>
        <p:nvSpPr>
          <p:cNvPr id="24" name="proof-details">
            <a:extLst xmlns:a="http://schemas.openxmlformats.org/drawingml/2006/main">
              <a:ext uri="{FF2B5EF4-FFF2-40B4-BE49-F238E27FC236}">
                <a16:creationId xmlns:a16="http://schemas.microsoft.com/office/drawing/2014/main" id="{6CB093C2-9B38-428A-AA5E-D6E30431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5425" y="5257800"/>
            <a:ext cx="23907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Useful recall.</a:t>
            </a:r>
          </a:p>
          <a:p xmlns:a="http://schemas.openxmlformats.org/drawingml/2006/main">
            <a:pPr>
              <a:def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Reliable voice.</a:t>
            </a:r>
          </a:p>
          <a:p xmlns:a="http://schemas.openxmlformats.org/drawingml/2006/main">
            <a:pPr>
              <a:def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Easy setup.</a:t>
            </a:r>
          </a:p>
        </p:txBody>
      </p:sp>
      <p:sp>
        <p:nvSpPr>
          <p:cNvPr id="25" name="built">
            <a:extLst xmlns:a="http://schemas.openxmlformats.org/drawingml/2006/main">
              <a:ext uri="{FF2B5EF4-FFF2-40B4-BE49-F238E27FC236}">
                <a16:creationId xmlns:a16="http://schemas.microsoft.com/office/drawing/2014/main" id="{2A63918B-B1A4-4C9E-846B-18DDE867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6457950"/>
            <a:ext cx="1095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Built: versions, source links, permission gates, export/rebuild.</a:t>
            </a:r>
          </a:p>
        </p:txBody>
      </p:sp>
    </p:spTree>
    <p:extLst>
      <p:ext uri="{BB962C8B-B14F-4D97-AF65-F5344CB8AC3E}">
        <p14:creationId xmlns:p14="http://schemas.microsoft.com/office/powerpoint/2010/main" val="614137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B8989F-D86F-43AB-B754-FEE8AD948103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058025" y="5781675"/>
            <a:ext cx="2066925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5E7"/>
            </a:solidFill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2E475-1DCF-4E1C-AE88-80F93EEB01F2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676525" y="5776913"/>
            <a:ext cx="2466975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5E7"/>
            </a:solidFill>
            <a:tailEnd type="triangle" w="sm" len="sm"/>
          </a:ln>
        </p:spPr>
      </p:cxnSp>
      <p:sp>
        <p:nvSpPr>
          <p:cNvPr id="27" name="ev-mark">
            <a:extLst xmlns:a="http://schemas.openxmlformats.org/drawingml/2006/main">
              <a:ext uri="{FF2B5EF4-FFF2-40B4-BE49-F238E27FC236}">
                <a16:creationId xmlns:a16="http://schemas.microsoft.com/office/drawing/2014/main" id="{29F8F8AA-5FF5-4B0B-A02C-D58299DD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238125"/>
            <a:ext cx="514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EV</a:t>
            </a:r>
          </a:p>
        </p:txBody>
      </p:sp>
      <p:sp>
        <p:nvSpPr>
          <p:cNvPr id="2" name="issue">
            <a:extLst xmlns:a="http://schemas.openxmlformats.org/drawingml/2006/main">
              <a:ext uri="{FF2B5EF4-FFF2-40B4-BE49-F238E27FC236}">
                <a16:creationId xmlns:a16="http://schemas.microsoft.com/office/drawing/2014/main" id="{8A57435B-6E4C-42C5-A40B-B9AF145F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333375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THE COMMERCIAL BET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4566904-11C5-4BAF-8655-CC34B765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3225" y="323850"/>
            <a:ext cx="1019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04 / 05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7D65EF4B-B62E-43C5-8432-8BA824CA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33425"/>
            <a:ext cx="1093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A reason to renew.</a:t>
            </a:r>
          </a:p>
        </p:txBody>
      </p:sp>
      <p:sp>
        <p:nvSpPr>
          <p:cNvPr id="5" name="wedge-aside">
            <a:extLst xmlns:a="http://schemas.openxmlformats.org/drawingml/2006/main">
              <a:ext uri="{FF2B5EF4-FFF2-40B4-BE49-F238E27FC236}">
                <a16:creationId xmlns:a16="http://schemas.microsoft.com/office/drawing/2014/main" id="{9C8E5D5D-8A89-4CEC-9CBF-C8A9762D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695325" y="15621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155E7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155E7"/>
                </a:solidFill>
                <a:latin typeface="Marker Felt"/>
                <a:ea typeface="Marker Felt"/>
                <a:cs typeface="Marker Felt"/>
              </a:defRPr>
            </a:pPr>
            <a:r>
              <a:rPr sz="2100" b="0">
                <a:solidFill>
                  <a:srgbClr val="3155E7"/>
                </a:solidFill>
                <a:latin typeface="Marker Felt"/>
                <a:ea typeface="Marker Felt"/>
                <a:cs typeface="Marker Felt"/>
              </a:rPr>
              <a:t>Start with builders.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CDC83-141E-4249-8B27-0D56097AF6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8930588f74671"/>
          <a:stretch xmlns:a="http://schemas.openxmlformats.org/drawingml/2006/main"/>
        </p:blipFill>
        <p:spPr>
          <a:xfrm xmlns:a="http://schemas.openxmlformats.org/drawingml/2006/main">
            <a:off x="4451350" y="1581150"/>
            <a:ext cx="3289300" cy="4933950"/>
          </a:xfrm>
          <a:prstGeom xmlns:a="http://schemas.openxmlformats.org/drawingml/2006/main" prst="rect">
            <a:avLst/>
          </a:prstGeom>
        </p:spPr>
      </p:pic>
      <p:sp>
        <p:nvSpPr>
          <p:cNvPr id="7" name="first-owners">
            <a:extLst xmlns:a="http://schemas.openxmlformats.org/drawingml/2006/main">
              <a:ext uri="{FF2B5EF4-FFF2-40B4-BE49-F238E27FC236}">
                <a16:creationId xmlns:a16="http://schemas.microsoft.com/office/drawing/2014/main" id="{B9AEFF55-1738-4445-900F-F19CA396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543175"/>
            <a:ext cx="3171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F46F52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46F5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46F52"/>
                </a:solidFill>
                <a:latin typeface="Avenir Next"/>
                <a:ea typeface="Avenir Next"/>
                <a:cs typeface="Avenir Next"/>
              </a:rPr>
              <a:t>FIRST OWNERS</a:t>
            </a:r>
          </a:p>
        </p:txBody>
      </p:sp>
      <p:sp>
        <p:nvSpPr>
          <p:cNvPr id="8" name="audience">
            <a:extLst xmlns:a="http://schemas.openxmlformats.org/drawingml/2006/main">
              <a:ext uri="{FF2B5EF4-FFF2-40B4-BE49-F238E27FC236}">
                <a16:creationId xmlns:a16="http://schemas.microsoft.com/office/drawing/2014/main" id="{EE52FC0F-0020-474A-BC58-B62290BF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924175"/>
            <a:ext cx="32289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Developers +</a:t>
            </a:r>
          </a:p>
          <a:p xmlns:a="http://schemas.openxmlformats.org/drawingml/2006/main">
            <a:pPr>
              <a:defRPr sz="232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independent</a:t>
            </a:r>
          </a:p>
          <a:p xmlns:a="http://schemas.openxmlformats.org/drawingml/2006/main">
            <a:pPr>
              <a:defRPr sz="232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operators</a:t>
            </a:r>
          </a:p>
        </p:txBody>
      </p:sp>
      <p:sp>
        <p:nvSpPr>
          <p:cNvPr id="9" name="reason">
            <a:extLst xmlns:a="http://schemas.openxmlformats.org/drawingml/2006/main">
              <a:ext uri="{FF2B5EF4-FFF2-40B4-BE49-F238E27FC236}">
                <a16:creationId xmlns:a16="http://schemas.microsoft.com/office/drawing/2014/main" id="{8A163CE2-0779-44FC-B3F0-63A37CB7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4305300"/>
            <a:ext cx="328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Find the reasons behind</a:t>
            </a:r>
          </a:p>
          <a:p xmlns:a="http://schemas.openxmlformats.org/drawingml/2006/main">
            <a:pPr>
              <a:def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a project’s changed direction.</a:t>
            </a:r>
          </a:p>
        </p:txBody>
      </p:sp>
      <p:sp>
        <p:nvSpPr>
          <p:cNvPr id="10" name="proposed-license">
            <a:extLst xmlns:a="http://schemas.openxmlformats.org/drawingml/2006/main">
              <a:ext uri="{FF2B5EF4-FFF2-40B4-BE49-F238E27FC236}">
                <a16:creationId xmlns:a16="http://schemas.microsoft.com/office/drawing/2014/main" id="{58990F1F-18B7-48E7-A895-EEA17DDB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2238375"/>
            <a:ext cx="182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PROPOSED</a:t>
            </a:r>
          </a:p>
        </p:txBody>
      </p:sp>
      <p:sp>
        <p:nvSpPr>
          <p:cNvPr id="11" name="price">
            <a:extLst xmlns:a="http://schemas.openxmlformats.org/drawingml/2006/main">
              <a:ext uri="{FF2B5EF4-FFF2-40B4-BE49-F238E27FC236}">
                <a16:creationId xmlns:a16="http://schemas.microsoft.com/office/drawing/2014/main" id="{8912163A-DCB1-4A66-8127-A274C86B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7325" y="2828925"/>
            <a:ext cx="16573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525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25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5250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$240</a:t>
            </a:r>
          </a:p>
        </p:txBody>
      </p:sp>
      <p:sp>
        <p:nvSpPr>
          <p:cNvPr id="12" name="price-period">
            <a:extLst xmlns:a="http://schemas.openxmlformats.org/drawingml/2006/main">
              <a:ext uri="{FF2B5EF4-FFF2-40B4-BE49-F238E27FC236}">
                <a16:creationId xmlns:a16="http://schemas.microsoft.com/office/drawing/2014/main" id="{7FF27FD1-B0C8-4B91-A847-471ED4C3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3800475"/>
            <a:ext cx="1828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per owner</a:t>
            </a:r>
          </a:p>
          <a:p xmlns:a="http://schemas.openxmlformats.org/drawingml/2006/main">
            <a:pPr algn="ctr">
              <a:defRPr sz="1950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per year</a:t>
            </a:r>
          </a:p>
        </p:txBody>
      </p:sp>
      <p:sp>
        <p:nvSpPr>
          <p:cNvPr id="13" name="annual-license">
            <a:extLst xmlns:a="http://schemas.openxmlformats.org/drawingml/2006/main">
              <a:ext uri="{FF2B5EF4-FFF2-40B4-BE49-F238E27FC236}">
                <a16:creationId xmlns:a16="http://schemas.microsoft.com/office/drawing/2014/main" id="{420DD54F-BF74-4B91-91C9-C921933D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4686300"/>
            <a:ext cx="1828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Annual license</a:t>
            </a:r>
          </a:p>
        </p:txBody>
      </p:sp>
      <p:sp>
        <p:nvSpPr>
          <p:cNvPr id="14" name="installation">
            <a:extLst xmlns:a="http://schemas.openxmlformats.org/drawingml/2006/main">
              <a:ext uri="{FF2B5EF4-FFF2-40B4-BE49-F238E27FC236}">
                <a16:creationId xmlns:a16="http://schemas.microsoft.com/office/drawing/2014/main" id="{4D5642D7-4509-4278-A86D-2044C829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752725"/>
            <a:ext cx="2895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One owner.</a:t>
            </a:r>
          </a:p>
          <a:p xmlns:a="http://schemas.openxmlformats.org/drawingml/2006/main">
            <a:pPr>
              <a:defRPr sz="232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One installation.</a:t>
            </a:r>
          </a:p>
        </p:txBody>
      </p:sp>
      <p:sp>
        <p:nvSpPr>
          <p:cNvPr id="15" name="api-cost">
            <a:extLst xmlns:a="http://schemas.openxmlformats.org/drawingml/2006/main">
              <a:ext uri="{FF2B5EF4-FFF2-40B4-BE49-F238E27FC236}">
                <a16:creationId xmlns:a16="http://schemas.microsoft.com/office/drawing/2014/main" id="{DF4E5306-8AB1-4183-9CD6-BF749AD1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3838575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Self-hosted software.</a:t>
            </a:r>
          </a:p>
          <a:p xmlns:a="http://schemas.openxmlformats.org/drawingml/2006/main">
            <a:pPr>
              <a:def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Model API costs separate.</a:t>
            </a:r>
          </a:p>
        </p:txBody>
      </p:sp>
      <p:sp>
        <p:nvSpPr>
          <p:cNvPr id="16" name="demo-stage">
            <a:extLst xmlns:a="http://schemas.openxmlformats.org/drawingml/2006/main">
              <a:ext uri="{FF2B5EF4-FFF2-40B4-BE49-F238E27FC236}">
                <a16:creationId xmlns:a16="http://schemas.microsoft.com/office/drawing/2014/main" id="{537F7614-953B-4510-BBE7-522B60AB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29250"/>
            <a:ext cx="20383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aid-stage">
            <a:extLst xmlns:a="http://schemas.openxmlformats.org/drawingml/2006/main">
              <a:ext uri="{FF2B5EF4-FFF2-40B4-BE49-F238E27FC236}">
                <a16:creationId xmlns:a16="http://schemas.microsoft.com/office/drawing/2014/main" id="{8FDF3C13-CB49-4F01-A2BB-A30214D8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19725"/>
            <a:ext cx="19145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renew-stage">
            <a:extLst xmlns:a="http://schemas.openxmlformats.org/drawingml/2006/main">
              <a:ext uri="{FF2B5EF4-FFF2-40B4-BE49-F238E27FC236}">
                <a16:creationId xmlns:a16="http://schemas.microsoft.com/office/drawing/2014/main" id="{53684E27-268F-4772-85AD-7ED84CF1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29250"/>
            <a:ext cx="23526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demo-label">
            <a:extLst xmlns:a="http://schemas.openxmlformats.org/drawingml/2006/main">
              <a:ext uri="{FF2B5EF4-FFF2-40B4-BE49-F238E27FC236}">
                <a16:creationId xmlns:a16="http://schemas.microsoft.com/office/drawing/2014/main" id="{5A7F3D50-24BC-4D16-93BC-B1F02142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457825"/>
            <a:ext cx="2038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Demos</a:t>
            </a:r>
          </a:p>
        </p:txBody>
      </p:sp>
      <p:sp>
        <p:nvSpPr>
          <p:cNvPr id="20" name="demo-sub">
            <a:extLst xmlns:a="http://schemas.openxmlformats.org/drawingml/2006/main">
              <a:ext uri="{FF2B5EF4-FFF2-40B4-BE49-F238E27FC236}">
                <a16:creationId xmlns:a16="http://schemas.microsoft.com/office/drawing/2014/main" id="{50755CAF-1179-4BD4-BBFB-EE8145E7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848350"/>
            <a:ext cx="2038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See it work.</a:t>
            </a:r>
          </a:p>
        </p:txBody>
      </p:sp>
      <p:sp>
        <p:nvSpPr>
          <p:cNvPr id="21" name="pilot-label">
            <a:extLst xmlns:a="http://schemas.openxmlformats.org/drawingml/2006/main">
              <a:ext uri="{FF2B5EF4-FFF2-40B4-BE49-F238E27FC236}">
                <a16:creationId xmlns:a16="http://schemas.microsoft.com/office/drawing/2014/main" id="{F0EAA29E-64FF-42CE-BE4D-AB5747E5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450" y="5619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Paid pilots</a:t>
            </a:r>
          </a:p>
        </p:txBody>
      </p:sp>
      <p:sp>
        <p:nvSpPr>
          <p:cNvPr id="22" name="renew-label">
            <a:extLst xmlns:a="http://schemas.openxmlformats.org/drawingml/2006/main">
              <a:ext uri="{FF2B5EF4-FFF2-40B4-BE49-F238E27FC236}">
                <a16:creationId xmlns:a16="http://schemas.microsoft.com/office/drawing/2014/main" id="{61E2398A-F7E9-4DE5-9A4D-91950807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5457825"/>
            <a:ext cx="2352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Yearly “yes”</a:t>
            </a:r>
          </a:p>
        </p:txBody>
      </p:sp>
      <p:sp>
        <p:nvSpPr>
          <p:cNvPr id="23" name="renew-sub">
            <a:extLst xmlns:a="http://schemas.openxmlformats.org/drawingml/2006/main">
              <a:ext uri="{FF2B5EF4-FFF2-40B4-BE49-F238E27FC236}">
                <a16:creationId xmlns:a16="http://schemas.microsoft.com/office/drawing/2014/main" id="{D0595FCB-1E0D-491E-97D1-CCC272AC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5848350"/>
            <a:ext cx="2352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Test renewals.</a:t>
            </a:r>
          </a:p>
        </p:txBody>
      </p:sp>
      <p:sp>
        <p:nvSpPr>
          <p:cNvPr id="26" name="commercial-disclosure">
            <a:extLst xmlns:a="http://schemas.openxmlformats.org/drawingml/2006/main">
              <a:ext uri="{FF2B5EF4-FFF2-40B4-BE49-F238E27FC236}">
                <a16:creationId xmlns:a16="http://schemas.microsoft.com/office/drawing/2014/main" id="{772F1BD6-F438-4F65-9942-90AD2B9D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6457950"/>
            <a:ext cx="10906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572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F657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F6572"/>
                </a:solidFill>
                <a:latin typeface="Avenir Next"/>
                <a:ea typeface="Avenir Next"/>
                <a:cs typeface="Avenir Next"/>
              </a:rPr>
              <a:t>Software license proposal. Pricing, paid demand and renewal economics need proof.</a:t>
            </a:r>
          </a:p>
        </p:txBody>
      </p:sp>
    </p:spTree>
    <p:extLst>
      <p:ext uri="{BB962C8B-B14F-4D97-AF65-F5344CB8AC3E}">
        <p14:creationId xmlns:p14="http://schemas.microsoft.com/office/powerpoint/2010/main" val="6994479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D2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v-mark">
            <a:extLst xmlns:a="http://schemas.openxmlformats.org/drawingml/2006/main">
              <a:ext uri="{FF2B5EF4-FFF2-40B4-BE49-F238E27FC236}">
                <a16:creationId xmlns:a16="http://schemas.microsoft.com/office/drawing/2014/main" id="{936BF8F2-9E17-4143-945D-C6C28977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238125"/>
            <a:ext cx="514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EV</a:t>
            </a:r>
          </a:p>
        </p:txBody>
      </p:sp>
      <p:sp>
        <p:nvSpPr>
          <p:cNvPr id="2" name="issue">
            <a:extLst xmlns:a="http://schemas.openxmlformats.org/drawingml/2006/main">
              <a:ext uri="{FF2B5EF4-FFF2-40B4-BE49-F238E27FC236}">
                <a16:creationId xmlns:a16="http://schemas.microsoft.com/office/drawing/2014/main" id="{C252193A-FBE3-4F6D-AAE6-FF9C9607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333375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THE INVESTMENT CASE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8147788-F7D1-4B0F-A91C-2F886B9E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3225" y="323850"/>
            <a:ext cx="1019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05 / 05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B0CE61A7-0FDC-4E4E-90EE-BF070031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62000"/>
            <a:ext cx="65532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4950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To prove people</a:t>
            </a:r>
          </a:p>
          <a:p xmlns:a="http://schemas.openxmlformats.org/drawingml/2006/main">
            <a:pPr>
              <a:defRPr sz="4950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4950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come back.</a:t>
            </a:r>
          </a:p>
        </p:txBody>
      </p:sp>
      <p:sp>
        <p:nvSpPr>
          <p:cNvPr id="5" name="ask">
            <a:extLst xmlns:a="http://schemas.openxmlformats.org/drawingml/2006/main">
              <a:ext uri="{FF2B5EF4-FFF2-40B4-BE49-F238E27FC236}">
                <a16:creationId xmlns:a16="http://schemas.microsoft.com/office/drawing/2014/main" id="{411791E3-B4B3-4F55-9755-21296201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" y="2371725"/>
            <a:ext cx="64008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375" b="1">
                <a:solidFill>
                  <a:srgbClr val="FFCC66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375" b="1">
                <a:solidFill>
                  <a:srgbClr val="FFCC66"/>
                </a:solidFill>
                <a:latin typeface="Avenir Next"/>
                <a:ea typeface="Avenir Next"/>
                <a:cs typeface="Avenir Next"/>
              </a:defRPr>
            </a:pPr>
            <a:r>
              <a:rPr sz="12375" b="1">
                <a:solidFill>
                  <a:srgbClr val="FFCC66"/>
                </a:solidFill>
                <a:latin typeface="Avenir Next"/>
                <a:ea typeface="Avenir Next"/>
                <a:cs typeface="Avenir Next"/>
              </a:rPr>
              <a:t>$7,000</a:t>
            </a:r>
          </a:p>
        </p:txBody>
      </p:sp>
      <p:sp>
        <p:nvSpPr>
          <p:cNvPr id="6" name="seed-proposal">
            <a:extLst xmlns:a="http://schemas.openxmlformats.org/drawingml/2006/main">
              <a:ext uri="{FF2B5EF4-FFF2-40B4-BE49-F238E27FC236}">
                <a16:creationId xmlns:a16="http://schemas.microsoft.com/office/drawing/2014/main" id="{3E34555C-1AE1-44D9-9F43-5C3BA243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324350"/>
            <a:ext cx="601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Proposed seed / 18 months</a:t>
            </a:r>
          </a:p>
        </p:txBody>
      </p:sp>
      <p:sp>
        <p:nvSpPr>
          <p:cNvPr id="7" name="ask-aside">
            <a:extLst xmlns:a="http://schemas.openxmlformats.org/drawingml/2006/main">
              <a:ext uri="{FF2B5EF4-FFF2-40B4-BE49-F238E27FC236}">
                <a16:creationId xmlns:a16="http://schemas.microsoft.com/office/drawing/2014/main" id="{A57CD35B-A6F6-4B97-9CBA-BCC0889B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685800" y="4743450"/>
            <a:ext cx="6153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CC66"/>
                </a:solidFill>
                <a:latin typeface="Marker Felt"/>
                <a:ea typeface="Marker Felt"/>
                <a:cs typeface="Marker Felt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CC66"/>
                </a:solidFill>
                <a:latin typeface="Marker Felt"/>
                <a:ea typeface="Marker Felt"/>
                <a:cs typeface="Marker Felt"/>
              </a:defRPr>
            </a:pPr>
            <a:r>
              <a:rPr sz="2025" b="0">
                <a:solidFill>
                  <a:srgbClr val="FFCC66"/>
                </a:solidFill>
                <a:latin typeface="Marker Felt"/>
                <a:ea typeface="Marker Felt"/>
                <a:cs typeface="Marker Felt"/>
              </a:rPr>
              <a:t>Let’s earn the everyday habit.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52AD3-0D93-49D4-BCDF-F45CB98565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757818ecf4e37"/>
          <a:stretch xmlns:a="http://schemas.openxmlformats.org/drawingml/2006/main"/>
        </p:blipFill>
        <p:spPr>
          <a:xfrm xmlns:a="http://schemas.openxmlformats.org/drawingml/2006/main">
            <a:off x="7464425" y="1466850"/>
            <a:ext cx="3302000" cy="4953000"/>
          </a:xfrm>
          <a:prstGeom xmlns:a="http://schemas.openxmlformats.org/drawingml/2006/main" prst="rect">
            <a:avLst/>
          </a:prstGeom>
        </p:spPr>
      </p:pic>
      <p:sp>
        <p:nvSpPr>
          <p:cNvPr id="9" name="phase-one">
            <a:extLst xmlns:a="http://schemas.openxmlformats.org/drawingml/2006/main">
              <a:ext uri="{FF2B5EF4-FFF2-40B4-BE49-F238E27FC236}">
                <a16:creationId xmlns:a16="http://schemas.microsoft.com/office/drawing/2014/main" id="{4858B99B-0383-4793-895C-B8E85108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2305050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0-6 MONTHS</a:t>
            </a:r>
          </a:p>
        </p:txBody>
      </p:sp>
      <p:sp>
        <p:nvSpPr>
          <p:cNvPr id="10" name="setup-target">
            <a:extLst xmlns:a="http://schemas.openxmlformats.org/drawingml/2006/main">
              <a:ext uri="{FF2B5EF4-FFF2-40B4-BE49-F238E27FC236}">
                <a16:creationId xmlns:a16="http://schemas.microsoft.com/office/drawing/2014/main" id="{045487E6-DE19-41A2-B1F9-756A9CB2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2581275"/>
            <a:ext cx="2200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15 min*</a:t>
            </a:r>
          </a:p>
        </p:txBody>
      </p:sp>
      <p:sp>
        <p:nvSpPr>
          <p:cNvPr id="11" name="setup-details">
            <a:extLst xmlns:a="http://schemas.openxmlformats.org/drawingml/2006/main">
              <a:ext uri="{FF2B5EF4-FFF2-40B4-BE49-F238E27FC236}">
                <a16:creationId xmlns:a16="http://schemas.microsoft.com/office/drawing/2014/main" id="{7424F32A-AD60-4468-B7D7-43E0BBEC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3162300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Setup + useful recall</a:t>
            </a:r>
          </a:p>
        </p:txBody>
      </p:sp>
      <p:sp>
        <p:nvSpPr>
          <p:cNvPr id="12" name="phase-two">
            <a:extLst xmlns:a="http://schemas.openxmlformats.org/drawingml/2006/main">
              <a:ext uri="{FF2B5EF4-FFF2-40B4-BE49-F238E27FC236}">
                <a16:creationId xmlns:a16="http://schemas.microsoft.com/office/drawing/2014/main" id="{1193A0D9-CF40-4401-8499-47B3E6CB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3552825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6-12 MONTHS</a:t>
            </a:r>
          </a:p>
        </p:txBody>
      </p:sp>
      <p:sp>
        <p:nvSpPr>
          <p:cNvPr id="13" name="paid-target">
            <a:extLst xmlns:a="http://schemas.openxmlformats.org/drawingml/2006/main">
              <a:ext uri="{FF2B5EF4-FFF2-40B4-BE49-F238E27FC236}">
                <a16:creationId xmlns:a16="http://schemas.microsoft.com/office/drawing/2014/main" id="{395294BC-0A00-49ED-B125-726C43D0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3829050"/>
            <a:ext cx="2200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100</a:t>
            </a:r>
          </a:p>
        </p:txBody>
      </p:sp>
      <p:sp>
        <p:nvSpPr>
          <p:cNvPr id="14" name="paid-details">
            <a:extLst xmlns:a="http://schemas.openxmlformats.org/drawingml/2006/main">
              <a:ext uri="{FF2B5EF4-FFF2-40B4-BE49-F238E27FC236}">
                <a16:creationId xmlns:a16="http://schemas.microsoft.com/office/drawing/2014/main" id="{8EE78A47-B800-47BD-AAB0-B316EBDC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4410075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Paid pilot owners</a:t>
            </a:r>
          </a:p>
        </p:txBody>
      </p:sp>
      <p:sp>
        <p:nvSpPr>
          <p:cNvPr id="15" name="phase-three">
            <a:extLst xmlns:a="http://schemas.openxmlformats.org/drawingml/2006/main">
              <a:ext uri="{FF2B5EF4-FFF2-40B4-BE49-F238E27FC236}">
                <a16:creationId xmlns:a16="http://schemas.microsoft.com/office/drawing/2014/main" id="{B3469749-9514-4604-8286-B25B8C6C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4781550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155E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155E7"/>
                </a:solidFill>
                <a:latin typeface="Avenir Next"/>
                <a:ea typeface="Avenir Next"/>
                <a:cs typeface="Avenir Next"/>
              </a:rPr>
              <a:t>12-18 MONTHS</a:t>
            </a:r>
          </a:p>
        </p:txBody>
      </p:sp>
      <p:sp>
        <p:nvSpPr>
          <p:cNvPr id="16" name="activity-target">
            <a:extLst xmlns:a="http://schemas.openxmlformats.org/drawingml/2006/main">
              <a:ext uri="{FF2B5EF4-FFF2-40B4-BE49-F238E27FC236}">
                <a16:creationId xmlns:a16="http://schemas.microsoft.com/office/drawing/2014/main" id="{2F965A3D-D757-4999-A299-CA528D8F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5057775"/>
            <a:ext cx="2200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60%</a:t>
            </a:r>
          </a:p>
        </p:txBody>
      </p:sp>
      <p:sp>
        <p:nvSpPr>
          <p:cNvPr id="17" name="activity-details">
            <a:extLst xmlns:a="http://schemas.openxmlformats.org/drawingml/2006/main">
              <a:ext uri="{FF2B5EF4-FFF2-40B4-BE49-F238E27FC236}">
                <a16:creationId xmlns:a16="http://schemas.microsoft.com/office/drawing/2014/main" id="{9F5439FE-577E-4463-8FD6-F9C7A42B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5534025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Using EV in week 8</a:t>
            </a:r>
          </a:p>
        </p:txBody>
      </p:sp>
      <p:graphicFrame>
        <p:nvGraphicFramePr>
          <p:cNvPr id="18" name="Chart">
            <a:extLst xmlns:a="http://schemas.openxmlformats.org/drawingml/2006/main">
              <a:ext uri="{FF2B5EF4-FFF2-40B4-BE49-F238E27FC236}">
                <a16:creationId xmlns:a16="http://schemas.microsoft.com/office/drawing/2014/main" id="{15B675B0-6D53-41B2-A9A3-9FCE7AD51705}"/>
              </a:ext>
            </a:extLst>
          </p:cNvPr>
          <p:cNvGraphicFramePr/>
          <p:nvPr/>
        </p:nvGraphicFramePr>
        <p:xfrm>
          <a:off xmlns:a="http://schemas.openxmlformats.org/drawingml/2006/main" x="590550" y="5219700"/>
          <a:ext xmlns:a="http://schemas.openxmlformats.org/drawingml/2006/main" cx="5724525" cy="981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f1d241c3ec408e"/>
          </a:graphicData>
        </a:graphic>
      </p:graphicFrame>
      <p:sp>
        <p:nvSpPr>
          <p:cNvPr id="19" name="allocation-percent-1">
            <a:extLst xmlns:a="http://schemas.openxmlformats.org/drawingml/2006/main">
              <a:ext uri="{FF2B5EF4-FFF2-40B4-BE49-F238E27FC236}">
                <a16:creationId xmlns:a16="http://schemas.microsoft.com/office/drawing/2014/main" id="{B816FE49-FAB9-4F1E-BE8C-E296C504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1660" y="5391150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55%</a:t>
            </a:r>
          </a:p>
        </p:txBody>
      </p:sp>
      <p:sp>
        <p:nvSpPr>
          <p:cNvPr id="20" name="allocation-percent-2">
            <a:extLst xmlns:a="http://schemas.openxmlformats.org/drawingml/2006/main">
              <a:ext uri="{FF2B5EF4-FFF2-40B4-BE49-F238E27FC236}">
                <a16:creationId xmlns:a16="http://schemas.microsoft.com/office/drawing/2014/main" id="{61393EB6-4108-45DE-AB33-8C6C5A2B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6220" y="5391150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25%</a:t>
            </a:r>
          </a:p>
        </p:txBody>
      </p:sp>
      <p:sp>
        <p:nvSpPr>
          <p:cNvPr id="21" name="allocation-percent-3">
            <a:extLst xmlns:a="http://schemas.openxmlformats.org/drawingml/2006/main">
              <a:ext uri="{FF2B5EF4-FFF2-40B4-BE49-F238E27FC236}">
                <a16:creationId xmlns:a16="http://schemas.microsoft.com/office/drawing/2014/main" id="{DAA559BE-C25F-4AB9-91E3-3BAD31D1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0660" y="5391150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243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D2433"/>
                </a:solidFill>
                <a:latin typeface="Avenir Next"/>
                <a:ea typeface="Avenir Next"/>
                <a:cs typeface="Avenir Next"/>
              </a:rPr>
              <a:t>20%</a:t>
            </a:r>
          </a:p>
        </p:txBody>
      </p:sp>
      <p:sp>
        <p:nvSpPr>
          <p:cNvPr id="22" name="next-step">
            <a:extLst xmlns:a="http://schemas.openxmlformats.org/drawingml/2006/main">
              <a:ext uri="{FF2B5EF4-FFF2-40B4-BE49-F238E27FC236}">
                <a16:creationId xmlns:a16="http://schemas.microsoft.com/office/drawing/2014/main" id="{0AD31901-EE56-4A74-80E7-ABF4B8B6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6200775"/>
            <a:ext cx="6372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Next: a walkthrough + paid-pilot plan.</a:t>
            </a:r>
          </a:p>
        </p:txBody>
      </p:sp>
      <p:sp>
        <p:nvSpPr>
          <p:cNvPr id="23" name="targets-disclosure">
            <a:extLst xmlns:a="http://schemas.openxmlformats.org/drawingml/2006/main">
              <a:ext uri="{FF2B5EF4-FFF2-40B4-BE49-F238E27FC236}">
                <a16:creationId xmlns:a16="http://schemas.microsoft.com/office/drawing/2014/main" id="{6BB8D67D-C1BF-4D37-A82E-25989C92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6562725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6F0E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6F0E5"/>
                </a:solidFill>
                <a:latin typeface="Avenir Next"/>
                <a:ea typeface="Avenir Next"/>
                <a:cs typeface="Avenir Next"/>
              </a:rPr>
              <a:t>Proposed targets. *Setup after prerequisites. Paid = payment collected.</a:t>
            </a:r>
          </a:p>
        </p:txBody>
      </p:sp>
    </p:spTree>
    <p:extLst>
      <p:ext uri="{BB962C8B-B14F-4D97-AF65-F5344CB8AC3E}">
        <p14:creationId xmlns:p14="http://schemas.microsoft.com/office/powerpoint/2010/main" val="385148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2026-10-11T07:25:24.9070000Z</dcterms:created>
  <dcterms:modified xsi:type="dcterms:W3CDTF">2026-10-11T07:25:24.9070000Z</dcterms:modified>
</coreProperties>
</file>